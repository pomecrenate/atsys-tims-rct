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embeddedFontLst>
    <p:embeddedFont>
      <p:font typeface="Teko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50">
          <p15:clr>
            <a:srgbClr val="A4A3A4"/>
          </p15:clr>
        </p15:guide>
        <p15:guide id="2" pos="211">
          <p15:clr>
            <a:srgbClr val="A4A3A4"/>
          </p15:clr>
        </p15:guide>
        <p15:guide id="3" pos="5429">
          <p15:clr>
            <a:srgbClr val="A4A3A4"/>
          </p15:clr>
        </p15:guide>
        <p15:guide id="4" pos="5632">
          <p15:clr>
            <a:srgbClr val="A4A3A4"/>
          </p15:clr>
        </p15:guide>
        <p15:guide id="5" orient="horz" pos="540">
          <p15:clr>
            <a:srgbClr val="A4A3A4"/>
          </p15:clr>
        </p15:guide>
        <p15:guide id="6" pos="206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i+7LYVO7zQEXk2ydzUxXbLApnV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CF0C438-C89A-42D5-BE75-774DCEAFBF1E}">
  <a:tblStyle styleId="{5CF0C438-C89A-42D5-BE75-774DCEAFBF1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50" orient="horz"/>
        <p:guide pos="211"/>
        <p:guide pos="5429"/>
        <p:guide pos="5632"/>
        <p:guide pos="540" orient="horz"/>
        <p:guide pos="20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Teko-bold.fntdata"/><Relationship Id="rId25" Type="http://schemas.openxmlformats.org/officeDocument/2006/relationships/font" Target="fonts/Teko-regular.fntdata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" name="Google Shape;6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533ce59cdb_2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1533ce59cdb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문서변경이력">
  <p:cSld name="문서변경이력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4"/>
          <p:cNvSpPr/>
          <p:nvPr/>
        </p:nvSpPr>
        <p:spPr>
          <a:xfrm>
            <a:off x="189390" y="150588"/>
            <a:ext cx="11813220" cy="3693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" name="Google Shape;18;p64"/>
          <p:cNvSpPr txBox="1"/>
          <p:nvPr>
            <p:ph idx="1" type="body"/>
          </p:nvPr>
        </p:nvSpPr>
        <p:spPr>
          <a:xfrm>
            <a:off x="205866" y="161065"/>
            <a:ext cx="8674795" cy="348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714"/>
              <a:buNone/>
              <a:defRPr b="1" sz="1714">
                <a:solidFill>
                  <a:srgbClr val="0C0C0C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9" name="Google Shape;19;p64"/>
          <p:cNvCxnSpPr/>
          <p:nvPr/>
        </p:nvCxnSpPr>
        <p:spPr>
          <a:xfrm>
            <a:off x="205866" y="6555068"/>
            <a:ext cx="11796744" cy="0"/>
          </a:xfrm>
          <a:prstGeom prst="straightConnector1">
            <a:avLst/>
          </a:prstGeom>
          <a:noFill/>
          <a:ln cap="flat" cmpd="sng" w="28575">
            <a:solidFill>
              <a:srgbClr val="14A6D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" name="Google Shape;20;p64"/>
          <p:cNvSpPr txBox="1"/>
          <p:nvPr>
            <p:ph idx="12" type="sldNum"/>
          </p:nvPr>
        </p:nvSpPr>
        <p:spPr>
          <a:xfrm>
            <a:off x="10077673" y="6608478"/>
            <a:ext cx="698963" cy="205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9075" lIns="98175" spcFirstLastPara="1" rIns="98175" wrap="square" tIns="490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간지">
  <p:cSld name="간지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5"/>
          <p:cNvSpPr/>
          <p:nvPr/>
        </p:nvSpPr>
        <p:spPr>
          <a:xfrm>
            <a:off x="0" y="1"/>
            <a:ext cx="12192000" cy="2047874"/>
          </a:xfrm>
          <a:prstGeom prst="rect">
            <a:avLst/>
          </a:prstGeom>
          <a:solidFill>
            <a:srgbClr val="14A6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Google Shape;23;p65"/>
          <p:cNvSpPr txBox="1"/>
          <p:nvPr>
            <p:ph type="title"/>
          </p:nvPr>
        </p:nvSpPr>
        <p:spPr>
          <a:xfrm>
            <a:off x="952500" y="2401052"/>
            <a:ext cx="9955823" cy="3886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  <a:defRPr b="1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5"/>
          <p:cNvSpPr txBox="1"/>
          <p:nvPr>
            <p:ph idx="1" type="body"/>
          </p:nvPr>
        </p:nvSpPr>
        <p:spPr>
          <a:xfrm>
            <a:off x="952500" y="1181100"/>
            <a:ext cx="9955824" cy="556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65"/>
          <p:cNvSpPr txBox="1"/>
          <p:nvPr/>
        </p:nvSpPr>
        <p:spPr>
          <a:xfrm>
            <a:off x="663638" y="1065036"/>
            <a:ext cx="288862" cy="6553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i="0" lang="ko-KR" sz="2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|</a:t>
            </a:r>
            <a:endParaRPr b="1" i="0" sz="2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" name="Google Shape;26;p65"/>
          <p:cNvSpPr txBox="1"/>
          <p:nvPr>
            <p:ph idx="12" type="sldNum"/>
          </p:nvPr>
        </p:nvSpPr>
        <p:spPr>
          <a:xfrm>
            <a:off x="10077673" y="6608478"/>
            <a:ext cx="698963" cy="205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9075" lIns="98175" spcFirstLastPara="1" rIns="98175" wrap="square" tIns="490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페이지구분">
  <p:cSld name="페이지구분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6"/>
          <p:cNvSpPr txBox="1"/>
          <p:nvPr>
            <p:ph type="ctrTitle"/>
          </p:nvPr>
        </p:nvSpPr>
        <p:spPr>
          <a:xfrm>
            <a:off x="515104" y="2308194"/>
            <a:ext cx="11079395" cy="777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lgun Gothic"/>
              <a:buNone/>
              <a:defRPr b="1" sz="3600"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9" name="Google Shape;29;p66"/>
          <p:cNvCxnSpPr/>
          <p:nvPr/>
        </p:nvCxnSpPr>
        <p:spPr>
          <a:xfrm>
            <a:off x="507074" y="3147239"/>
            <a:ext cx="11087425" cy="0"/>
          </a:xfrm>
          <a:prstGeom prst="straightConnector1">
            <a:avLst/>
          </a:prstGeom>
          <a:noFill/>
          <a:ln cap="flat" cmpd="sng" w="50800">
            <a:solidFill>
              <a:srgbClr val="14A6D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" name="Google Shape;30;p66"/>
          <p:cNvSpPr txBox="1"/>
          <p:nvPr>
            <p:ph idx="12" type="sldNum"/>
          </p:nvPr>
        </p:nvSpPr>
        <p:spPr>
          <a:xfrm>
            <a:off x="10077673" y="6608478"/>
            <a:ext cx="698963" cy="205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9075" lIns="98175" spcFirstLastPara="1" rIns="98175" wrap="square" tIns="490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스토리보드">
  <p:cSld name="1_스토리보드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3"/>
          <p:cNvSpPr/>
          <p:nvPr/>
        </p:nvSpPr>
        <p:spPr>
          <a:xfrm>
            <a:off x="9676316" y="388476"/>
            <a:ext cx="947234" cy="217131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이예찬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43"/>
          <p:cNvCxnSpPr/>
          <p:nvPr/>
        </p:nvCxnSpPr>
        <p:spPr>
          <a:xfrm>
            <a:off x="131376" y="687525"/>
            <a:ext cx="8712000" cy="0"/>
          </a:xfrm>
          <a:prstGeom prst="straightConnector1">
            <a:avLst/>
          </a:prstGeom>
          <a:noFill/>
          <a:ln cap="flat" cmpd="sng" w="12700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" name="Google Shape;34;p43"/>
          <p:cNvSpPr txBox="1"/>
          <p:nvPr>
            <p:ph idx="1" type="body"/>
          </p:nvPr>
        </p:nvSpPr>
        <p:spPr>
          <a:xfrm>
            <a:off x="2303425" y="388954"/>
            <a:ext cx="1633058" cy="217131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43"/>
          <p:cNvSpPr txBox="1"/>
          <p:nvPr/>
        </p:nvSpPr>
        <p:spPr>
          <a:xfrm>
            <a:off x="4204256" y="408053"/>
            <a:ext cx="856838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화면명</a:t>
            </a:r>
            <a:endParaRPr b="0" i="0" sz="1400" u="none" cap="none" strike="noStrike">
              <a:solidFill>
                <a:srgbClr val="000000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36" name="Google Shape;36;p43"/>
          <p:cNvSpPr txBox="1"/>
          <p:nvPr>
            <p:ph idx="2" type="body"/>
          </p:nvPr>
        </p:nvSpPr>
        <p:spPr>
          <a:xfrm>
            <a:off x="4775216" y="388954"/>
            <a:ext cx="4058442" cy="217131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3"/>
          <p:cNvSpPr txBox="1"/>
          <p:nvPr/>
        </p:nvSpPr>
        <p:spPr>
          <a:xfrm>
            <a:off x="1607233" y="134120"/>
            <a:ext cx="856838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화면경로</a:t>
            </a:r>
            <a:endParaRPr b="0" i="0" sz="1400" u="none" cap="none" strike="noStrike">
              <a:solidFill>
                <a:srgbClr val="000000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38" name="Google Shape;38;p43"/>
          <p:cNvSpPr txBox="1"/>
          <p:nvPr/>
        </p:nvSpPr>
        <p:spPr>
          <a:xfrm>
            <a:off x="1607233" y="408053"/>
            <a:ext cx="856838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화면코드</a:t>
            </a:r>
            <a:endParaRPr b="0" i="0" sz="1400" u="none" cap="none" strike="noStrike">
              <a:solidFill>
                <a:srgbClr val="000000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39" name="Google Shape;39;p43"/>
          <p:cNvSpPr txBox="1"/>
          <p:nvPr>
            <p:ph idx="3" type="body"/>
          </p:nvPr>
        </p:nvSpPr>
        <p:spPr>
          <a:xfrm>
            <a:off x="2304478" y="124564"/>
            <a:ext cx="9654912" cy="217131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3"/>
          <p:cNvSpPr txBox="1"/>
          <p:nvPr/>
        </p:nvSpPr>
        <p:spPr>
          <a:xfrm>
            <a:off x="8854373" y="395928"/>
            <a:ext cx="818018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작성자</a:t>
            </a:r>
            <a:endParaRPr b="0" i="0" sz="9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" name="Google Shape;41;p43"/>
          <p:cNvSpPr txBox="1"/>
          <p:nvPr/>
        </p:nvSpPr>
        <p:spPr>
          <a:xfrm>
            <a:off x="10531839" y="395928"/>
            <a:ext cx="818018" cy="230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algun Gothic"/>
              <a:buNone/>
            </a:pPr>
            <a:r>
              <a:rPr b="0" i="0" lang="ko-KR" sz="9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페이지</a:t>
            </a:r>
            <a:endParaRPr b="0" i="0" sz="9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43"/>
          <p:cNvSpPr/>
          <p:nvPr/>
        </p:nvSpPr>
        <p:spPr>
          <a:xfrm>
            <a:off x="11334750" y="388476"/>
            <a:ext cx="620711" cy="217131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ko-KR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3"/>
          <p:cNvSpPr txBox="1"/>
          <p:nvPr/>
        </p:nvSpPr>
        <p:spPr>
          <a:xfrm>
            <a:off x="220898" y="185997"/>
            <a:ext cx="1280242" cy="3539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ko-KR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채용시스템</a:t>
            </a:r>
            <a:endParaRPr b="1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48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200"/>
              <a:buChar char="▪"/>
              <a:defRPr/>
            </a:lvl1pPr>
            <a:lvl2pPr indent="-3048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2pPr>
            <a:lvl3pPr indent="-3048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3pPr>
            <a:lvl4pPr indent="-3048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4pPr>
            <a:lvl5pPr indent="-3048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48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▪"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048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▪"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048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▪"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048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▪"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"/>
              <a:buChar char="▪"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Google Shape;54;p1"/>
          <p:cNvCxnSpPr/>
          <p:nvPr/>
        </p:nvCxnSpPr>
        <p:spPr>
          <a:xfrm>
            <a:off x="460685" y="2092067"/>
            <a:ext cx="11254155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1"/>
          <p:cNvSpPr txBox="1"/>
          <p:nvPr/>
        </p:nvSpPr>
        <p:spPr>
          <a:xfrm>
            <a:off x="3441415" y="1375006"/>
            <a:ext cx="831556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ko-KR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화면설계서</a:t>
            </a:r>
            <a:endParaRPr b="1" i="0" sz="3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5394418" y="2210217"/>
            <a:ext cx="6314831" cy="471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SEI-OL-DE-04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9089142" y="2605741"/>
            <a:ext cx="2620107" cy="319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Ver. 1.0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7779128" y="4127201"/>
            <a:ext cx="3930119" cy="1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: 평가관리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업무명 : </a:t>
            </a:r>
            <a:br>
              <a:rPr b="0" i="0" lang="ko-KR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0" i="0" lang="ko-KR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단계명 : 설계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idx="1" type="body"/>
          </p:nvPr>
        </p:nvSpPr>
        <p:spPr>
          <a:xfrm>
            <a:off x="205866" y="161065"/>
            <a:ext cx="8674795" cy="348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700"/>
              <a:buNone/>
            </a:pPr>
            <a:r>
              <a:rPr lang="ko-KR"/>
              <a:t>문서변경이력</a:t>
            </a:r>
            <a:endParaRPr/>
          </a:p>
        </p:txBody>
      </p:sp>
      <p:sp>
        <p:nvSpPr>
          <p:cNvPr id="64" name="Google Shape;64;p2"/>
          <p:cNvSpPr txBox="1"/>
          <p:nvPr>
            <p:ph idx="12" type="sldNum"/>
          </p:nvPr>
        </p:nvSpPr>
        <p:spPr>
          <a:xfrm>
            <a:off x="11305111" y="6608478"/>
            <a:ext cx="698963" cy="205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9075" lIns="98175" spcFirstLastPara="1" rIns="98175" wrap="square" tIns="490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page </a:t>
            </a:r>
            <a:fld id="{00000000-1234-1234-1234-123412341234}" type="slidenum">
              <a:rPr lang="ko-KR"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65" name="Google Shape;65;p2"/>
          <p:cNvGraphicFramePr/>
          <p:nvPr/>
        </p:nvGraphicFramePr>
        <p:xfrm>
          <a:off x="205864" y="765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{5CF0C438-C89A-42D5-BE75-774DCEAFBF1E}</a:tableStyleId>
              </a:tblPr>
              <a:tblGrid>
                <a:gridCol w="1392900"/>
                <a:gridCol w="1392900"/>
                <a:gridCol w="6190725"/>
                <a:gridCol w="755225"/>
                <a:gridCol w="2030600"/>
              </a:tblGrid>
              <a:tr h="314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ko-KR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버전</a:t>
                      </a:r>
                      <a:endParaRPr b="1" i="0" sz="9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ko-KR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작성일</a:t>
                      </a:r>
                      <a:endParaRPr b="1" i="0" sz="900" u="none" cap="none" strike="noStrike">
                        <a:solidFill>
                          <a:srgbClr val="FFFFFF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ko-KR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변경 이력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ko-KR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작성자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ko-KR" sz="90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3333"/>
                    </a:solidFill>
                  </a:tcPr>
                </a:tc>
              </a:tr>
              <a:tr h="26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V1.0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8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2025-03-25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3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ko-KR" sz="8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최초 작성</a:t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ko-KR" sz="800" u="none" cap="none" strike="noStrike"/>
                        <a:t>이예찬</a:t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1430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1430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1430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1430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1430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1430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1430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1430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1430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1430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1430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1430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1430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1430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6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1430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t/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>
            <p:ph idx="1" type="body"/>
          </p:nvPr>
        </p:nvSpPr>
        <p:spPr>
          <a:xfrm>
            <a:off x="952500" y="1181100"/>
            <a:ext cx="9955824" cy="556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ko-KR"/>
              <a:t>전체 평가위원 관리</a:t>
            </a:r>
            <a:endParaRPr/>
          </a:p>
        </p:txBody>
      </p:sp>
      <p:sp>
        <p:nvSpPr>
          <p:cNvPr id="71" name="Google Shape;71;p3"/>
          <p:cNvSpPr txBox="1"/>
          <p:nvPr/>
        </p:nvSpPr>
        <p:spPr>
          <a:xfrm>
            <a:off x="807720" y="2490430"/>
            <a:ext cx="2560320" cy="5581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1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전체 평가위원 관리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8"/>
          <p:cNvSpPr txBox="1"/>
          <p:nvPr>
            <p:ph type="ctrTitle"/>
          </p:nvPr>
        </p:nvSpPr>
        <p:spPr>
          <a:xfrm>
            <a:off x="515104" y="2308194"/>
            <a:ext cx="11079395" cy="777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-285750" lvl="0" marL="28575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전체 평가위원 관리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Google Shape;81;p15"/>
          <p:cNvGraphicFramePr/>
          <p:nvPr/>
        </p:nvGraphicFramePr>
        <p:xfrm>
          <a:off x="8943711" y="13241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{5CF0C438-C89A-42D5-BE75-774DCEAFBF1E}</a:tableStyleId>
              </a:tblPr>
              <a:tblGrid>
                <a:gridCol w="338025"/>
                <a:gridCol w="2779250"/>
              </a:tblGrid>
              <a:tr h="1222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ko-KR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 평가위원 관리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</a:tr>
              <a:tr h="1222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 평가위원 목록을 관리하는 화면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222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 기능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</a:tr>
              <a:tr h="12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9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내부, 외부 선택 후 이름으로 검색 가능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외부 평가위원 등록 팝업 호출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외부 평가위원만 [삭제] 가능, 내부 교직원은 [삭제] 불가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[추가] 버튼을 클릭하면 ROW가 추가되며 외부 평가위원 정보 입력 가능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2303425" y="388954"/>
            <a:ext cx="1633058" cy="217131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1000"/>
          </a:p>
        </p:txBody>
      </p:sp>
      <p:sp>
        <p:nvSpPr>
          <p:cNvPr id="83" name="Google Shape;83;p15"/>
          <p:cNvSpPr txBox="1"/>
          <p:nvPr>
            <p:ph idx="2" type="body"/>
          </p:nvPr>
        </p:nvSpPr>
        <p:spPr>
          <a:xfrm>
            <a:off x="4775216" y="388954"/>
            <a:ext cx="4058442" cy="217131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ko-KR" sz="1000"/>
              <a:t>평가위원 목록 조회</a:t>
            </a:r>
            <a:endParaRPr sz="1000"/>
          </a:p>
        </p:txBody>
      </p:sp>
      <p:sp>
        <p:nvSpPr>
          <p:cNvPr id="84" name="Google Shape;84;p15"/>
          <p:cNvSpPr txBox="1"/>
          <p:nvPr>
            <p:ph idx="3" type="body"/>
          </p:nvPr>
        </p:nvSpPr>
        <p:spPr>
          <a:xfrm>
            <a:off x="2304478" y="124564"/>
            <a:ext cx="9654912" cy="217131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ko-KR" sz="1000"/>
              <a:t>전체 평가위원 관리</a:t>
            </a:r>
            <a:endParaRPr sz="1000"/>
          </a:p>
        </p:txBody>
      </p:sp>
      <p:pic>
        <p:nvPicPr>
          <p:cNvPr id="85" name="Google Shape;8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3369" y="1234440"/>
            <a:ext cx="7768100" cy="5272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Google Shape;90;p24"/>
          <p:cNvGraphicFramePr/>
          <p:nvPr/>
        </p:nvGraphicFramePr>
        <p:xfrm>
          <a:off x="8943711" y="13241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{5CF0C438-C89A-42D5-BE75-774DCEAFBF1E}</a:tableStyleId>
              </a:tblPr>
              <a:tblGrid>
                <a:gridCol w="338025"/>
                <a:gridCol w="2779250"/>
              </a:tblGrid>
              <a:tr h="1222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ko-KR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 평가위원 관리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</a:tr>
              <a:tr h="1222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 평가위원 목록을 관리하는 화면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222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 기능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</a:tr>
              <a:tr h="12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9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교번은 자동 생성되며 외부 평가위원의 Login ID로 사용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[추가] 버튼을 클릭하면 ROW가 추가되며 외부 평가위원 정보 입력 가능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1" name="Google Shape;91;p24"/>
          <p:cNvSpPr txBox="1"/>
          <p:nvPr>
            <p:ph idx="1" type="body"/>
          </p:nvPr>
        </p:nvSpPr>
        <p:spPr>
          <a:xfrm>
            <a:off x="2303425" y="388954"/>
            <a:ext cx="1633058" cy="217131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1000"/>
          </a:p>
        </p:txBody>
      </p:sp>
      <p:sp>
        <p:nvSpPr>
          <p:cNvPr id="92" name="Google Shape;92;p24"/>
          <p:cNvSpPr txBox="1"/>
          <p:nvPr>
            <p:ph idx="2" type="body"/>
          </p:nvPr>
        </p:nvSpPr>
        <p:spPr>
          <a:xfrm>
            <a:off x="4775216" y="388954"/>
            <a:ext cx="4058442" cy="217131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ko-KR" sz="1000"/>
              <a:t>외부 평가위원 등록 팝업</a:t>
            </a:r>
            <a:endParaRPr sz="1000"/>
          </a:p>
        </p:txBody>
      </p:sp>
      <p:sp>
        <p:nvSpPr>
          <p:cNvPr id="93" name="Google Shape;93;p24"/>
          <p:cNvSpPr txBox="1"/>
          <p:nvPr>
            <p:ph idx="3" type="body"/>
          </p:nvPr>
        </p:nvSpPr>
        <p:spPr>
          <a:xfrm>
            <a:off x="2304478" y="124564"/>
            <a:ext cx="9654912" cy="217131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ko-KR" sz="1000"/>
              <a:t>전체 평가위원 관리</a:t>
            </a:r>
            <a:endParaRPr sz="1000"/>
          </a:p>
        </p:txBody>
      </p:sp>
      <p:pic>
        <p:nvPicPr>
          <p:cNvPr id="94" name="Google Shape;9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19" y="1341121"/>
            <a:ext cx="7686289" cy="3632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9"/>
          <p:cNvSpPr txBox="1"/>
          <p:nvPr>
            <p:ph idx="1" type="body"/>
          </p:nvPr>
        </p:nvSpPr>
        <p:spPr>
          <a:xfrm>
            <a:off x="952500" y="1181100"/>
            <a:ext cx="9955824" cy="556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ko-KR"/>
              <a:t>평가 관리</a:t>
            </a:r>
            <a:endParaRPr/>
          </a:p>
        </p:txBody>
      </p:sp>
      <p:sp>
        <p:nvSpPr>
          <p:cNvPr id="100" name="Google Shape;100;p29"/>
          <p:cNvSpPr txBox="1"/>
          <p:nvPr/>
        </p:nvSpPr>
        <p:spPr>
          <a:xfrm>
            <a:off x="807720" y="2490430"/>
            <a:ext cx="256032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1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평가위원 구성 관리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1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평가 항목 관리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1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평가위원 심사 관리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1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평가 사정 관리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-"/>
            </a:pPr>
            <a:r>
              <a:rPr b="1" i="0" lang="ko-KR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결과 관리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21" y="2132856"/>
            <a:ext cx="8867359" cy="361970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6" name="Google Shape;106;p51"/>
          <p:cNvGraphicFramePr/>
          <p:nvPr/>
        </p:nvGraphicFramePr>
        <p:xfrm>
          <a:off x="9036892" y="12973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{5CF0C438-C89A-42D5-BE75-774DCEAFBF1E}</a:tableStyleId>
              </a:tblPr>
              <a:tblGrid>
                <a:gridCol w="338025"/>
                <a:gridCol w="2779250"/>
              </a:tblGrid>
              <a:tr h="1222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ko-KR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평가 관리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</a:tr>
              <a:tr h="1222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채용 심사 평가를 관리하는 화면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222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참고 사항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</a:tr>
              <a:tr h="1222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공고, 차수별 관리가 가능하다.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222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 기능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</a:tr>
              <a:tr h="12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9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공고의 심사 평가 단계를 표시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공고, 차수에 따라 평가위원을 관리하는 화면으로 이동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공고, 차수의 교직원 구분별 평가표를 관리하는 화면으로 이동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공고, 차수의 평가위원별 평가표를 관리하는 화면으로 이동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공고, 차수의 초빙분야별 지원서의 점수를 사정하는 화면으로 이동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공고, 차수의 초빙분야별 평가표를 관리하는 화면으로 이동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7" name="Google Shape;107;p51"/>
          <p:cNvSpPr txBox="1"/>
          <p:nvPr>
            <p:ph idx="1" type="body"/>
          </p:nvPr>
        </p:nvSpPr>
        <p:spPr>
          <a:xfrm>
            <a:off x="2303425" y="388954"/>
            <a:ext cx="1633058" cy="217131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1000"/>
          </a:p>
        </p:txBody>
      </p:sp>
      <p:sp>
        <p:nvSpPr>
          <p:cNvPr id="108" name="Google Shape;108;p51"/>
          <p:cNvSpPr txBox="1"/>
          <p:nvPr>
            <p:ph idx="2" type="body"/>
          </p:nvPr>
        </p:nvSpPr>
        <p:spPr>
          <a:xfrm>
            <a:off x="4775216" y="388954"/>
            <a:ext cx="4058442" cy="217131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ko-KR" sz="1000"/>
              <a:t>공고 차수 평가 관리</a:t>
            </a:r>
            <a:endParaRPr sz="1000"/>
          </a:p>
        </p:txBody>
      </p:sp>
      <p:sp>
        <p:nvSpPr>
          <p:cNvPr id="109" name="Google Shape;109;p51"/>
          <p:cNvSpPr txBox="1"/>
          <p:nvPr>
            <p:ph idx="3" type="body"/>
          </p:nvPr>
        </p:nvSpPr>
        <p:spPr>
          <a:xfrm>
            <a:off x="2304478" y="124564"/>
            <a:ext cx="9654912" cy="217131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ko-KR" sz="1000"/>
              <a:t>평가 관리</a:t>
            </a:r>
            <a:endParaRPr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type="ctrTitle"/>
          </p:nvPr>
        </p:nvSpPr>
        <p:spPr>
          <a:xfrm>
            <a:off x="515104" y="2308194"/>
            <a:ext cx="11079395" cy="777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-285750" lvl="0" marL="28575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평가위원 구성 관리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16833"/>
            <a:ext cx="8403040" cy="348249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0" name="Google Shape;120;p19"/>
          <p:cNvGraphicFramePr/>
          <p:nvPr/>
        </p:nvGraphicFramePr>
        <p:xfrm>
          <a:off x="8937832" y="12745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{5CF0C438-C89A-42D5-BE75-774DCEAFBF1E}</a:tableStyleId>
              </a:tblPr>
              <a:tblGrid>
                <a:gridCol w="338025"/>
                <a:gridCol w="2779250"/>
              </a:tblGrid>
              <a:tr h="1222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ko-KR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평가위원 구성 관리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</a:tr>
              <a:tr h="1222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공고, 차수별 평가위원을 편성, 관리하는 화면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222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참고 사항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</a:tr>
              <a:tr h="1222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평가위원에 대해 반드시 [확정] 처리를 수행해야 평가위원 구성이 완료된다.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외부 평가위원의 초기 비밀번호는 rc12345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222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 기능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</a:tr>
              <a:tr h="12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9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공고에서 모집하는 초빙분야가 표시되며, 확정 여부 상태는 확정된 평가위원이 없으면 X, 확정되면 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공고, 초빙분야별 평가위원이 표시되며, [추가] 버튼을 클릭하면 ROW가 추가되고 검색 입력 후 저장이 가능</a:t>
                      </a:r>
                      <a:b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※ 위원장은 반드시 선택해야 한다.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위원장을 선택하지 않으면 자동으로 1순번 평가위원이 선택된다.</a:t>
                      </a:r>
                      <a:b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※ 내외부 선택 후 성명 항목에 이름을 1-2글자 입력하면 입력한 항목에 맞는 이름이 검색된다.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평가위원 구성 후 반드시 [확정]을 수행해야 최종 적용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※ [확정] 버튼을 클릭하면 자동으로 [저장]도 수행됨</a:t>
                      </a:r>
                      <a:b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※ [확정] 전 [추가]한 평가위원이 없는 경우 알림창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※ [확정] 클릭하면 삭제 버튼 비활성화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2303425" y="388954"/>
            <a:ext cx="1633058" cy="217131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1000"/>
          </a:p>
        </p:txBody>
      </p:sp>
      <p:sp>
        <p:nvSpPr>
          <p:cNvPr id="122" name="Google Shape;122;p19"/>
          <p:cNvSpPr txBox="1"/>
          <p:nvPr>
            <p:ph idx="2" type="body"/>
          </p:nvPr>
        </p:nvSpPr>
        <p:spPr>
          <a:xfrm>
            <a:off x="4775216" y="388954"/>
            <a:ext cx="4058442" cy="217131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ko-KR" sz="1000"/>
              <a:t>초빙분야별 평가위원 구성</a:t>
            </a:r>
            <a:endParaRPr sz="1000"/>
          </a:p>
        </p:txBody>
      </p:sp>
      <p:sp>
        <p:nvSpPr>
          <p:cNvPr id="123" name="Google Shape;123;p19"/>
          <p:cNvSpPr txBox="1"/>
          <p:nvPr>
            <p:ph idx="3" type="body"/>
          </p:nvPr>
        </p:nvSpPr>
        <p:spPr>
          <a:xfrm>
            <a:off x="2304478" y="124564"/>
            <a:ext cx="9654912" cy="217131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ko-KR" sz="1000"/>
              <a:t>평가 관리 &gt; 평가위원 구성 관리</a:t>
            </a: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/>
          <p:nvPr>
            <p:ph type="ctrTitle"/>
          </p:nvPr>
        </p:nvSpPr>
        <p:spPr>
          <a:xfrm>
            <a:off x="515104" y="2308194"/>
            <a:ext cx="11079395" cy="777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-285750" lvl="0" marL="28575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평가 항목 관리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0"/>
          <p:cNvPicPr preferRelativeResize="0"/>
          <p:nvPr/>
        </p:nvPicPr>
        <p:blipFill rotWithShape="1">
          <a:blip r:embed="rId3">
            <a:alphaModFix/>
          </a:blip>
          <a:srcRect b="0" l="0" r="0" t="5307"/>
          <a:stretch/>
        </p:blipFill>
        <p:spPr>
          <a:xfrm>
            <a:off x="0" y="836615"/>
            <a:ext cx="8784299" cy="564579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4" name="Google Shape;134;p20"/>
          <p:cNvGraphicFramePr/>
          <p:nvPr/>
        </p:nvGraphicFramePr>
        <p:xfrm>
          <a:off x="8989344" y="12936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{5CF0C438-C89A-42D5-BE75-774DCEAFBF1E}</a:tableStyleId>
              </a:tblPr>
              <a:tblGrid>
                <a:gridCol w="338025"/>
                <a:gridCol w="2779250"/>
              </a:tblGrid>
              <a:tr h="1222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ko-KR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평가 항목 관리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</a:tr>
              <a:tr h="1222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공고, 차수, 교직원 구분별 평가표를 생성, 관리하는 화면</a:t>
                      </a:r>
                      <a:endParaRPr b="0" i="0"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222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 기능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</a:tr>
              <a:tr h="12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9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공고 등록 시 선택한 채용 구분에 따라 표시되는 교직원 구분이 달라짐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저장된 평가표를 복사하여 적용 가능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[추가] 버튼을 클릭하여 평가표 문항을 추가 가능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2303425" y="388954"/>
            <a:ext cx="1633058" cy="217131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1000"/>
          </a:p>
        </p:txBody>
      </p:sp>
      <p:sp>
        <p:nvSpPr>
          <p:cNvPr id="136" name="Google Shape;136;p20"/>
          <p:cNvSpPr txBox="1"/>
          <p:nvPr>
            <p:ph idx="2" type="body"/>
          </p:nvPr>
        </p:nvSpPr>
        <p:spPr>
          <a:xfrm>
            <a:off x="4775216" y="388954"/>
            <a:ext cx="4058442" cy="217131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ko-KR" sz="1000"/>
              <a:t>평가표 템플릿 생성</a:t>
            </a:r>
            <a:endParaRPr sz="1000"/>
          </a:p>
        </p:txBody>
      </p:sp>
      <p:sp>
        <p:nvSpPr>
          <p:cNvPr id="137" name="Google Shape;137;p20"/>
          <p:cNvSpPr txBox="1"/>
          <p:nvPr>
            <p:ph idx="3" type="body"/>
          </p:nvPr>
        </p:nvSpPr>
        <p:spPr>
          <a:xfrm>
            <a:off x="2304478" y="124564"/>
            <a:ext cx="9654912" cy="217131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ko-KR" sz="1000"/>
              <a:t>평가 관리 &gt; 평가 항목 관리</a:t>
            </a: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0"/>
          <p:cNvSpPr txBox="1"/>
          <p:nvPr>
            <p:ph type="ctrTitle"/>
          </p:nvPr>
        </p:nvSpPr>
        <p:spPr>
          <a:xfrm>
            <a:off x="515104" y="2308194"/>
            <a:ext cx="11079395" cy="777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-285750" lvl="0" marL="28575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평가 관리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6504" y="1150620"/>
            <a:ext cx="8841711" cy="514248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8" name="Google Shape;148;p53"/>
          <p:cNvGraphicFramePr/>
          <p:nvPr/>
        </p:nvGraphicFramePr>
        <p:xfrm>
          <a:off x="8966484" y="1283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{5CF0C438-C89A-42D5-BE75-774DCEAFBF1E}</a:tableStyleId>
              </a:tblPr>
              <a:tblGrid>
                <a:gridCol w="338025"/>
                <a:gridCol w="2779250"/>
              </a:tblGrid>
              <a:tr h="1222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ko-KR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평가위원 심사 관리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</a:tr>
              <a:tr h="1222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공고, 차수, 평가위원별 평가표를 취합, 관리하는 화면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222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 기능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</a:tr>
              <a:tr h="12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9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공고, 차수에 등록된 평가위원 목록 표시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평가위원이 담당한 지원서와 초빙분야 목록 표시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평가위원이 평가 후 확정을 누르면 심사여부가 O로 바뀜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평가위원의 지원서에 대한 평가표 조회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49" name="Google Shape;149;p53"/>
          <p:cNvSpPr txBox="1"/>
          <p:nvPr>
            <p:ph idx="1" type="body"/>
          </p:nvPr>
        </p:nvSpPr>
        <p:spPr>
          <a:xfrm>
            <a:off x="2303425" y="388954"/>
            <a:ext cx="1633058" cy="217131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1000"/>
          </a:p>
        </p:txBody>
      </p:sp>
      <p:sp>
        <p:nvSpPr>
          <p:cNvPr id="150" name="Google Shape;150;p53"/>
          <p:cNvSpPr txBox="1"/>
          <p:nvPr>
            <p:ph idx="2" type="body"/>
          </p:nvPr>
        </p:nvSpPr>
        <p:spPr>
          <a:xfrm>
            <a:off x="4775216" y="388954"/>
            <a:ext cx="4058442" cy="217131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ko-KR" sz="1000"/>
              <a:t>평가위원별 평가표 관리</a:t>
            </a:r>
            <a:endParaRPr sz="1000"/>
          </a:p>
        </p:txBody>
      </p:sp>
      <p:sp>
        <p:nvSpPr>
          <p:cNvPr id="151" name="Google Shape;151;p53"/>
          <p:cNvSpPr txBox="1"/>
          <p:nvPr>
            <p:ph idx="3" type="body"/>
          </p:nvPr>
        </p:nvSpPr>
        <p:spPr>
          <a:xfrm>
            <a:off x="2304478" y="124564"/>
            <a:ext cx="9654912" cy="217131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ko-KR" sz="1000"/>
              <a:t>평가 관리 &gt; 평가위원 심사 관리</a:t>
            </a: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type="ctrTitle"/>
          </p:nvPr>
        </p:nvSpPr>
        <p:spPr>
          <a:xfrm>
            <a:off x="515104" y="2308194"/>
            <a:ext cx="11079395" cy="777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-285750" lvl="0" marL="28575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평가 사정 관리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24744"/>
            <a:ext cx="8990735" cy="465883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2" name="Google Shape;162;p21"/>
          <p:cNvGraphicFramePr/>
          <p:nvPr/>
        </p:nvGraphicFramePr>
        <p:xfrm>
          <a:off x="8990735" y="1336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{5CF0C438-C89A-42D5-BE75-774DCEAFBF1E}</a:tableStyleId>
              </a:tblPr>
              <a:tblGrid>
                <a:gridCol w="338025"/>
                <a:gridCol w="2779250"/>
              </a:tblGrid>
              <a:tr h="1222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ko-KR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평가 사정 관리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</a:tr>
              <a:tr h="1222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공고, 차수의 초빙분야별 지원서의 점수를 사정하는 화면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222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 기능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</a:tr>
              <a:tr h="12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9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공고, 차수에 등록된 초빙분야 목록 표시(select box)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공고 등록 시 입력한 차수 평가 기간 표시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지원서 ROW를 클릭하면 지원서별 평가위원의 제출여부, 제출일자가 바뀜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[사정] 버튼을 클릭하면 지원서의 평균, 순위가 계산되고 [저장] 수행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63" name="Google Shape;163;p21"/>
          <p:cNvSpPr txBox="1"/>
          <p:nvPr>
            <p:ph idx="1" type="body"/>
          </p:nvPr>
        </p:nvSpPr>
        <p:spPr>
          <a:xfrm>
            <a:off x="2303425" y="388954"/>
            <a:ext cx="1633058" cy="217131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1000"/>
          </a:p>
        </p:txBody>
      </p:sp>
      <p:sp>
        <p:nvSpPr>
          <p:cNvPr id="164" name="Google Shape;164;p21"/>
          <p:cNvSpPr txBox="1"/>
          <p:nvPr>
            <p:ph idx="2" type="body"/>
          </p:nvPr>
        </p:nvSpPr>
        <p:spPr>
          <a:xfrm>
            <a:off x="4775216" y="388954"/>
            <a:ext cx="4058442" cy="217131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ko-KR" sz="1000"/>
              <a:t>지원서 점수 사정</a:t>
            </a:r>
            <a:endParaRPr sz="1000"/>
          </a:p>
        </p:txBody>
      </p:sp>
      <p:sp>
        <p:nvSpPr>
          <p:cNvPr id="165" name="Google Shape;165;p21"/>
          <p:cNvSpPr txBox="1"/>
          <p:nvPr>
            <p:ph idx="3" type="body"/>
          </p:nvPr>
        </p:nvSpPr>
        <p:spPr>
          <a:xfrm>
            <a:off x="2304478" y="124564"/>
            <a:ext cx="9654912" cy="217131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ko-KR" sz="1000"/>
              <a:t>평가 관리 &gt; 평가 사정 관리</a:t>
            </a:r>
            <a:endParaRPr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"/>
          <p:cNvSpPr txBox="1"/>
          <p:nvPr>
            <p:ph type="ctrTitle"/>
          </p:nvPr>
        </p:nvSpPr>
        <p:spPr>
          <a:xfrm>
            <a:off x="515104" y="2308194"/>
            <a:ext cx="11079395" cy="777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-285750" lvl="0" marL="28575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ko-KR">
                <a:latin typeface="Arial"/>
                <a:ea typeface="Arial"/>
                <a:cs typeface="Arial"/>
                <a:sym typeface="Arial"/>
              </a:rPr>
              <a:t>결과 관리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g1533ce59cdb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10" y="1165860"/>
            <a:ext cx="8790821" cy="45148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6" name="Google Shape;176;g1533ce59cdb_2_0"/>
          <p:cNvGraphicFramePr/>
          <p:nvPr/>
        </p:nvGraphicFramePr>
        <p:xfrm>
          <a:off x="8958951" y="1249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{5CF0C438-C89A-42D5-BE75-774DCEAFBF1E}</a:tableStyleId>
              </a:tblPr>
              <a:tblGrid>
                <a:gridCol w="338025"/>
                <a:gridCol w="2779250"/>
              </a:tblGrid>
              <a:tr h="1222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b="1" i="0" lang="ko-KR" sz="12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결과 관리</a:t>
                      </a:r>
                      <a:endParaRPr b="1" i="0" sz="1200" u="none" cap="none" strike="noStrike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</a:tr>
              <a:tr h="1222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공고, 차수, 초빙분야별 지원서의 평가결과를 조회, 관리하는 화면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222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주요 기능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 hMerge="1"/>
              </a:tr>
              <a:tr h="12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900" u="none" cap="none" strike="noStrike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공고에 등록된 초빙분야 목록 표시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초빙분야별 지원서의 평가 결과 점수, 순위 표시</a:t>
                      </a:r>
                      <a:b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ROW를 클릭하면 지원서별 상세 결과 확인 가능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선택된 지원서의 평가위원별 결과표 확인 가능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점수, 순위를 기준으로 합격 대상자 선정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2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ko-KR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[적격] 버튼을 클릭하면 [취소] 버튼으로 바뀌고 적격 처리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77" name="Google Shape;177;g1533ce59cdb_2_0"/>
          <p:cNvSpPr txBox="1"/>
          <p:nvPr>
            <p:ph idx="1" type="body"/>
          </p:nvPr>
        </p:nvSpPr>
        <p:spPr>
          <a:xfrm>
            <a:off x="2303425" y="388954"/>
            <a:ext cx="1633058" cy="217131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1000"/>
          </a:p>
        </p:txBody>
      </p:sp>
      <p:sp>
        <p:nvSpPr>
          <p:cNvPr id="178" name="Google Shape;178;g1533ce59cdb_2_0"/>
          <p:cNvSpPr txBox="1"/>
          <p:nvPr>
            <p:ph idx="2" type="body"/>
          </p:nvPr>
        </p:nvSpPr>
        <p:spPr>
          <a:xfrm>
            <a:off x="4775216" y="388954"/>
            <a:ext cx="4058442" cy="217131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ko-KR" sz="1000"/>
              <a:t>지원서 평가 결과 관리</a:t>
            </a:r>
            <a:endParaRPr sz="1000"/>
          </a:p>
        </p:txBody>
      </p:sp>
      <p:sp>
        <p:nvSpPr>
          <p:cNvPr id="179" name="Google Shape;179;g1533ce59cdb_2_0"/>
          <p:cNvSpPr txBox="1"/>
          <p:nvPr>
            <p:ph idx="3" type="body"/>
          </p:nvPr>
        </p:nvSpPr>
        <p:spPr>
          <a:xfrm>
            <a:off x="2304478" y="124564"/>
            <a:ext cx="9654912" cy="217131"/>
          </a:xfrm>
          <a:prstGeom prst="rect">
            <a:avLst/>
          </a:prstGeom>
          <a:solidFill>
            <a:srgbClr val="D8E2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rPr lang="ko-KR" sz="1000"/>
              <a:t>평가 관리 &gt; 결과 관리</a:t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2018-10-24T08:36:59Z</dcterms:created>
  <dc:creator>조인성</dc:creator>
</cp:coreProperties>
</file>